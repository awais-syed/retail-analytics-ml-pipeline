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fictional GiftLane scenario. Two business goals: recommend products, and give marketing interpretable customer segments. This is a retrospective experiment, not a deployed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Cleaning removes cancelled invoices, non-positive values, missing customer IDs, and non-product codes. Split at October 9 2011 12:50, reserving the last two months. Only training data defines the matrix and product filter; the sparse-storage savings are distinct from SVD compression.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SVD and PCA tested at same 100 components. SVD fit 0.31s versus PCA 0.48s in original timing. Both explain about 36% variance at k=100, but these are not identical objectives because of centering. SVD relative reconstruction error is 0.7808, so compression loses information. Component selection explored the test period, which is a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 Rate at 10 means at least one of the 10 suggestions matched a new future purchase. 44,727 of 49,423 held-out customer/product pairs belonged to the training catalogue. Scoring benchmark for SVD evaluation approximately 3.99 seconds locally, not an end-to-end nightly job. SVD trails popularity by 0.99 percentage points. Honest negative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on normalized 100-dimensional SVD customer representations, with 5 groups. Labels grounded in top products and top countries. Largest cluster 0 with 1,601 customers. Map only shows first two dimensions, so overlap is expected. Segments are descriptive hypotheses for testing campaigns. No customer IDs in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Conclude: sparse matrix 95.87% memory savings, model evaluates in seconds on current laptop, but these timings are not full production pipeline benchmarks. Best-seller baseline still wins. Five segments offer potential for marketing experimentation. Ethical handling: customer identifiers stay private.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E93"/>
          </a:solidFill>
          <a:ln w="12700">
            <a:solidFill>
              <a:srgbClr val="168E9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8E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RECOMMENDATIONS + CUSTOMER INSIGHTS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Like You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6355080"/>
            <a:ext cx="10835640" cy="0"/>
          </a:xfrm>
          <a:prstGeom prst="line">
            <a:avLst/>
          </a:prstGeom>
          <a:noFill/>
          <a:ln w="12700">
            <a:solidFill>
              <a:srgbClr val="DD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4652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GIFT LANE  /  CUSTOMERS LIKE YOU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164592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 smaller purchase matrix produce useful product suggestions—and meaningful customer groups?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13232" y="3108960"/>
            <a:ext cx="5166360" cy="1554480"/>
          </a:xfrm>
          <a:prstGeom prst="roundRect">
            <a:avLst>
              <a:gd name="adj" fmla="val 8824"/>
            </a:avLst>
          </a:prstGeom>
          <a:solidFill>
            <a:srgbClr val="EFF5F8"/>
          </a:solidFill>
          <a:ln w="12700">
            <a:solidFill>
              <a:srgbClr val="EFF5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3108960"/>
            <a:ext cx="5166360" cy="1554480"/>
          </a:xfrm>
          <a:prstGeom prst="roundRect">
            <a:avLst>
              <a:gd name="adj" fmla="val 8824"/>
            </a:avLst>
          </a:prstGeom>
          <a:solidFill>
            <a:srgbClr val="EFF5F8"/>
          </a:solidFill>
          <a:ln w="12700">
            <a:solidFill>
              <a:srgbClr val="EFF5F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015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8E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PRODUCT RECOMMENDATIONS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78561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suggestions based on purchase patterns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36792" y="34015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8E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MARKETING SEGMENTS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36792" y="3785616"/>
            <a:ext cx="4590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interpretable customer groups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5166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project  •  UCI Online Retail II  •  2009–2011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E93"/>
          </a:solidFill>
          <a:ln w="12700">
            <a:solidFill>
              <a:srgbClr val="168E9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8E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transactions to a sparse matrix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6355080"/>
            <a:ext cx="10835640" cy="0"/>
          </a:xfrm>
          <a:prstGeom prst="line">
            <a:avLst/>
          </a:prstGeom>
          <a:noFill/>
          <a:ln w="12700">
            <a:solidFill>
              <a:srgbClr val="DD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4652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GIFT LANE  /  CUSTOMERS LIKE YOU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2651760" cy="1243584"/>
          </a:xfrm>
          <a:prstGeom prst="roundRect">
            <a:avLst>
              <a:gd name="adj" fmla="val 11029"/>
            </a:avLst>
          </a:prstGeom>
          <a:solidFill>
            <a:srgbClr val="EFF5F8"/>
          </a:solidFill>
          <a:ln w="12700">
            <a:solidFill>
              <a:srgbClr val="EFF5F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1,067,371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04672" y="24505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invoice lines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20440" y="1691640"/>
            <a:ext cx="2651760" cy="1243584"/>
          </a:xfrm>
          <a:prstGeom prst="roundRect">
            <a:avLst>
              <a:gd name="adj" fmla="val 11029"/>
            </a:avLst>
          </a:prstGeom>
          <a:solidFill>
            <a:srgbClr val="EFF5F8"/>
          </a:solidFill>
          <a:ln w="12700">
            <a:solidFill>
              <a:srgbClr val="EFF5F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802,661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639312" y="24505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cleaned records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1691640"/>
            <a:ext cx="2651760" cy="1243584"/>
          </a:xfrm>
          <a:prstGeom prst="roundRect">
            <a:avLst>
              <a:gd name="adj" fmla="val 11029"/>
            </a:avLst>
          </a:prstGeom>
          <a:solidFill>
            <a:srgbClr val="EFF5F8"/>
          </a:solidFill>
          <a:ln w="12700">
            <a:solidFill>
              <a:srgbClr val="EFF5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684,098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473952" y="24505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rows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89720" y="1691640"/>
            <a:ext cx="2651760" cy="1243584"/>
          </a:xfrm>
          <a:prstGeom prst="roundRect">
            <a:avLst>
              <a:gd name="adj" fmla="val 11029"/>
            </a:avLst>
          </a:prstGeom>
          <a:solidFill>
            <a:srgbClr val="EFF5F8"/>
          </a:solidFill>
          <a:ln w="12700">
            <a:solidFill>
              <a:srgbClr val="EFF5F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118,563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308592" y="24505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rows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419856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matrix: 5,474 customers × 3,688 products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77240" y="4270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float32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2852928" y="4270248"/>
            <a:ext cx="7315200" cy="301752"/>
          </a:xfrm>
          <a:prstGeom prst="roundRect">
            <a:avLst>
              <a:gd name="adj" fmla="val 45455"/>
            </a:avLst>
          </a:prstGeom>
          <a:solidFill>
            <a:srgbClr val="1976A3"/>
          </a:solidFill>
          <a:ln w="12700">
            <a:solidFill>
              <a:srgbClr val="1976A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78440" y="42702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77.01 MiB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50017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CSR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2852928" y="5001768"/>
            <a:ext cx="302118" cy="301752"/>
          </a:xfrm>
          <a:prstGeom prst="roundRect">
            <a:avLst>
              <a:gd name="adj" fmla="val 45455"/>
            </a:avLst>
          </a:prstGeom>
          <a:solidFill>
            <a:srgbClr val="168E93"/>
          </a:solidFill>
          <a:ln w="12700">
            <a:solidFill>
              <a:srgbClr val="168E9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78440" y="50017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3.18 MiB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240" y="58521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8E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97.95% zeros  •  95.87% memory reduction with CSR storage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E93"/>
          </a:solidFill>
          <a:ln w="12700">
            <a:solidFill>
              <a:srgbClr val="168E9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8E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AND INFORMATION LOSS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Truncated SVD?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6355080"/>
            <a:ext cx="10835640" cy="0"/>
          </a:xfrm>
          <a:prstGeom prst="line">
            <a:avLst/>
          </a:prstGeom>
          <a:noFill/>
          <a:ln w="12700">
            <a:solidFill>
              <a:srgbClr val="DD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4652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GIFT LANE  /  CUSTOMERS LIKE YOU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655064"/>
            <a:ext cx="5230368" cy="2011680"/>
          </a:xfrm>
          <a:prstGeom prst="roundRect">
            <a:avLst>
              <a:gd name="adj" fmla="val 6818"/>
            </a:avLst>
          </a:prstGeom>
          <a:solidFill>
            <a:srgbClr val="EFF5F8"/>
          </a:solidFill>
          <a:ln w="12700">
            <a:solidFill>
              <a:srgbClr val="EFF5F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655064"/>
            <a:ext cx="5230368" cy="2011680"/>
          </a:xfrm>
          <a:prstGeom prst="roundRect">
            <a:avLst>
              <a:gd name="adj" fmla="val 6818"/>
            </a:avLst>
          </a:prstGeom>
          <a:solidFill>
            <a:srgbClr val="EFF5F8"/>
          </a:solidFill>
          <a:ln w="12700">
            <a:solidFill>
              <a:srgbClr val="EFF5F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901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8E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TRUNCATED SVD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235000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B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directly on sparse purchase data without mean-centering.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37376" y="1901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97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37376" y="235000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B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Centers columns; slightly more explained variance at k=100.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reconstruction error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45262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k=10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828800" y="4558284"/>
            <a:ext cx="6979615" cy="146304"/>
          </a:xfrm>
          <a:prstGeom prst="roundRect">
            <a:avLst>
              <a:gd name="adj" fmla="val 93750"/>
            </a:avLst>
          </a:prstGeom>
          <a:solidFill>
            <a:srgbClr val="1976A3"/>
          </a:solidFill>
          <a:ln w="12700">
            <a:solidFill>
              <a:srgbClr val="1976A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45262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0.898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892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k=50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0" y="4924044"/>
            <a:ext cx="6468191" cy="146304"/>
          </a:xfrm>
          <a:prstGeom prst="roundRect">
            <a:avLst>
              <a:gd name="adj" fmla="val 93750"/>
            </a:avLst>
          </a:prstGeom>
          <a:solidFill>
            <a:srgbClr val="1976A3"/>
          </a:solidFill>
          <a:ln w="12700">
            <a:solidFill>
              <a:srgbClr val="1976A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4892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0.832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5257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k=100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28800" y="5289804"/>
            <a:ext cx="6068690" cy="146304"/>
          </a:xfrm>
          <a:prstGeom prst="roundRect">
            <a:avLst>
              <a:gd name="adj" fmla="val 93750"/>
            </a:avLst>
          </a:prstGeom>
          <a:solidFill>
            <a:srgbClr val="1976A3"/>
          </a:solidFill>
          <a:ln w="12700">
            <a:solidFill>
              <a:srgbClr val="1976A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0" y="5257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0.781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56235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k=200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28800" y="5655564"/>
            <a:ext cx="5456225" cy="146304"/>
          </a:xfrm>
          <a:prstGeom prst="roundRect">
            <a:avLst>
              <a:gd name="adj" fmla="val 93750"/>
            </a:avLst>
          </a:prstGeom>
          <a:solidFill>
            <a:srgbClr val="1976A3"/>
          </a:solidFill>
          <a:ln w="12700">
            <a:solidFill>
              <a:srgbClr val="1976A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56235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0.702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E93"/>
          </a:solidFill>
          <a:ln w="12700">
            <a:solidFill>
              <a:srgbClr val="168E9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8E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EVALUATION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Personalization has not beaten popularity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6355080"/>
            <a:ext cx="10835640" cy="0"/>
          </a:xfrm>
          <a:prstGeom prst="line">
            <a:avLst/>
          </a:prstGeom>
          <a:noFill/>
          <a:ln w="12700">
            <a:solidFill>
              <a:srgbClr val="DD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4652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GIFT LANE  /  CUSTOMERS LIKE YOU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sellers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337560" y="1819656"/>
            <a:ext cx="6060582" cy="384048"/>
          </a:xfrm>
          <a:prstGeom prst="roundRect">
            <a:avLst>
              <a:gd name="adj" fmla="val 35714"/>
            </a:avLst>
          </a:prstGeom>
          <a:solidFill>
            <a:srgbClr val="1D8B70"/>
          </a:solidFill>
          <a:ln w="12700">
            <a:solidFill>
              <a:srgbClr val="1D8B7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0" y="1783080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26.87%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2798064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  (k=100)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337560" y="2834640"/>
            <a:ext cx="5837286" cy="384048"/>
          </a:xfrm>
          <a:prstGeom prst="roundRect">
            <a:avLst>
              <a:gd name="adj" fmla="val 35714"/>
            </a:avLst>
          </a:prstGeom>
          <a:solidFill>
            <a:srgbClr val="1976A3"/>
          </a:solidFill>
          <a:ln w="12700">
            <a:solidFill>
              <a:srgbClr val="1976A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0" y="2798064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25.88%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7240" y="381304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  (k=100)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337560" y="3849624"/>
            <a:ext cx="5600456" cy="384048"/>
          </a:xfrm>
          <a:prstGeom prst="roundRect">
            <a:avLst>
              <a:gd name="adj" fmla="val 35714"/>
            </a:avLst>
          </a:prstGeom>
          <a:solidFill>
            <a:srgbClr val="53687A"/>
          </a:solidFill>
          <a:ln w="12700">
            <a:solidFill>
              <a:srgbClr val="5368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0" y="3813048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24.83%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86384" y="5047488"/>
            <a:ext cx="10607040" cy="749808"/>
          </a:xfrm>
          <a:prstGeom prst="roundRect">
            <a:avLst>
              <a:gd name="adj" fmla="val 18293"/>
            </a:avLst>
          </a:prstGeom>
          <a:solidFill>
            <a:srgbClr val="EFF5F8"/>
          </a:solidFill>
          <a:ln w="12700">
            <a:solidFill>
              <a:srgbClr val="EFF5F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2760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B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SVD: 495 / 1,913 customer hits    |    Baseline: 514 / 1,913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86384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65C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do not deploy the personalized ranking yet; improve and revalidate.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E93"/>
          </a:solidFill>
          <a:ln w="12700">
            <a:solidFill>
              <a:srgbClr val="168E9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8E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MAP INTERPRETATION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actionable customer groups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6355080"/>
            <a:ext cx="10835640" cy="0"/>
          </a:xfrm>
          <a:prstGeom prst="line">
            <a:avLst/>
          </a:prstGeom>
          <a:noFill/>
          <a:ln w="12700">
            <a:solidFill>
              <a:srgbClr val="DD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4652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GIFT LANE  /  CUSTOMERS LIKE YOU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600200"/>
            <a:ext cx="10698480" cy="640080"/>
          </a:xfrm>
          <a:prstGeom prst="roundRect">
            <a:avLst>
              <a:gd name="adj" fmla="val 21429"/>
            </a:avLst>
          </a:prstGeom>
          <a:solidFill>
            <a:srgbClr val="EFF5F8"/>
          </a:solidFill>
          <a:ln w="12700">
            <a:solidFill>
              <a:srgbClr val="EFF5F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728216"/>
            <a:ext cx="82296" cy="384048"/>
          </a:xfrm>
          <a:prstGeom prst="roundRect">
            <a:avLst>
              <a:gd name="adj" fmla="val 166667"/>
            </a:avLst>
          </a:prstGeom>
          <a:solidFill>
            <a:srgbClr val="168E93"/>
          </a:solidFill>
          <a:ln w="12700">
            <a:solidFill>
              <a:srgbClr val="168E9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1755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Everyday Gifts &amp; Baking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760720" y="1764792"/>
            <a:ext cx="4297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Cake cases, trinket boxes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04704" y="17556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1,601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9808" y="2395728"/>
            <a:ext cx="10698480" cy="640080"/>
          </a:xfrm>
          <a:prstGeom prst="roundRect">
            <a:avLst>
              <a:gd name="adj" fmla="val 21429"/>
            </a:avLst>
          </a:prstGeom>
          <a:solidFill>
            <a:srgbClr val="F8FBFC"/>
          </a:solidFill>
          <a:ln w="12700">
            <a:solidFill>
              <a:srgbClr val="F8FBF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523744"/>
            <a:ext cx="82296" cy="384048"/>
          </a:xfrm>
          <a:prstGeom prst="roundRect">
            <a:avLst>
              <a:gd name="adj" fmla="val 166667"/>
            </a:avLst>
          </a:prstGeom>
          <a:solidFill>
            <a:srgbClr val="168E93"/>
          </a:solidFill>
          <a:ln w="12700">
            <a:solidFill>
              <a:srgbClr val="168E9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25511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Bags &amp; Accessories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760720" y="2560320"/>
            <a:ext cx="4297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Lunch bags, shopper bags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204704" y="25511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947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9808" y="3191256"/>
            <a:ext cx="10698480" cy="640080"/>
          </a:xfrm>
          <a:prstGeom prst="roundRect">
            <a:avLst>
              <a:gd name="adj" fmla="val 21429"/>
            </a:avLst>
          </a:prstGeom>
          <a:solidFill>
            <a:srgbClr val="EFF5F8"/>
          </a:solidFill>
          <a:ln w="12700">
            <a:solidFill>
              <a:srgbClr val="EFF5F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319272"/>
            <a:ext cx="82296" cy="384048"/>
          </a:xfrm>
          <a:prstGeom prst="roundRect">
            <a:avLst>
              <a:gd name="adj" fmla="val 166667"/>
            </a:avLst>
          </a:prstGeom>
          <a:solidFill>
            <a:srgbClr val="E7A44E"/>
          </a:solidFill>
          <a:ln w="12700">
            <a:solidFill>
              <a:srgbClr val="E7A44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52144" y="33467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Regency Tea &amp; Tableware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760720" y="3355848"/>
            <a:ext cx="4297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Teacups, cake stands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204704" y="334670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49808" y="3986784"/>
            <a:ext cx="10698480" cy="640080"/>
          </a:xfrm>
          <a:prstGeom prst="roundRect">
            <a:avLst>
              <a:gd name="adj" fmla="val 21429"/>
            </a:avLst>
          </a:prstGeom>
          <a:solidFill>
            <a:srgbClr val="F8FBFC"/>
          </a:solidFill>
          <a:ln w="12700">
            <a:solidFill>
              <a:srgbClr val="F8FBFC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114800"/>
            <a:ext cx="82296" cy="384048"/>
          </a:xfrm>
          <a:prstGeom prst="roundRect">
            <a:avLst>
              <a:gd name="adj" fmla="val 166667"/>
            </a:avLst>
          </a:prstGeom>
          <a:solidFill>
            <a:srgbClr val="168E93"/>
          </a:solidFill>
          <a:ln w="12700">
            <a:solidFill>
              <a:srgbClr val="168E9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52144" y="41422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Décor &amp; Heart Gifts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760720" y="4151376"/>
            <a:ext cx="4297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T-light holders, wicker hearts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04704" y="41422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1,337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49808" y="4782312"/>
            <a:ext cx="10698480" cy="640080"/>
          </a:xfrm>
          <a:prstGeom prst="roundRect">
            <a:avLst>
              <a:gd name="adj" fmla="val 21429"/>
            </a:avLst>
          </a:prstGeom>
          <a:solidFill>
            <a:srgbClr val="EFF5F8"/>
          </a:solidFill>
          <a:ln w="12700">
            <a:solidFill>
              <a:srgbClr val="EFF5F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4910328"/>
            <a:ext cx="82296" cy="384048"/>
          </a:xfrm>
          <a:prstGeom prst="roundRect">
            <a:avLst>
              <a:gd name="adj" fmla="val 166667"/>
            </a:avLst>
          </a:prstGeom>
          <a:solidFill>
            <a:srgbClr val="168E93"/>
          </a:solidFill>
          <a:ln w="12700">
            <a:solidFill>
              <a:srgbClr val="168E9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52144" y="4937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Gifts &amp; Activities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5760720" y="4946904"/>
            <a:ext cx="4297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 games, craft kits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204704" y="49377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1,147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77240" y="5888736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UK customers dominate all groups; clusters overlap when projected to just 2 dimensions.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E93"/>
          </a:solidFill>
          <a:ln w="12700">
            <a:solidFill>
              <a:srgbClr val="168E9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8E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SARAH SHOULD DO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Recommendation: validate before scaling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6355080"/>
            <a:ext cx="10835640" cy="0"/>
          </a:xfrm>
          <a:prstGeom prst="line">
            <a:avLst/>
          </a:prstGeom>
          <a:noFill/>
          <a:ln w="12700">
            <a:solidFill>
              <a:srgbClr val="DD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4652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GIFT LANE  /  CUSTOMERS LIKE YOU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581912"/>
            <a:ext cx="438912" cy="438912"/>
          </a:xfrm>
          <a:prstGeom prst="roundRect">
            <a:avLst>
              <a:gd name="adj" fmla="val 31250"/>
            </a:avLst>
          </a:prstGeom>
          <a:solidFill>
            <a:srgbClr val="168E93"/>
          </a:solidFill>
          <a:ln w="12700">
            <a:solidFill>
              <a:srgbClr val="168E9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5506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44752" y="15773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baseline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44752" y="197510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popular products while SVD trails on held-out purchases.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2615184"/>
            <a:ext cx="438912" cy="438912"/>
          </a:xfrm>
          <a:prstGeom prst="roundRect">
            <a:avLst>
              <a:gd name="adj" fmla="val 31250"/>
            </a:avLst>
          </a:prstGeom>
          <a:solidFill>
            <a:srgbClr val="168E93"/>
          </a:solidFill>
          <a:ln w="12700">
            <a:solidFill>
              <a:srgbClr val="168E9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8833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44752" y="261061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personalization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44752" y="300837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recency, frequency, scoring and popularity hybrids.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3648456"/>
            <a:ext cx="438912" cy="438912"/>
          </a:xfrm>
          <a:prstGeom prst="roundRect">
            <a:avLst>
              <a:gd name="adj" fmla="val 31250"/>
            </a:avLst>
          </a:prstGeom>
          <a:solidFill>
            <a:srgbClr val="168E93"/>
          </a:solidFill>
          <a:ln w="12700">
            <a:solidFill>
              <a:srgbClr val="168E9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216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44752" y="364388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properly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444752" y="40416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separate validation period; then untouched final test.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" y="4681728"/>
            <a:ext cx="438912" cy="438912"/>
          </a:xfrm>
          <a:prstGeom prst="roundRect">
            <a:avLst>
              <a:gd name="adj" fmla="val 31250"/>
            </a:avLst>
          </a:prstGeom>
          <a:solidFill>
            <a:srgbClr val="168E93"/>
          </a:solidFill>
          <a:ln w="12700">
            <a:solidFill>
              <a:srgbClr val="168E9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5488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44752" y="467715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3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customer segments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444752" y="5074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targeted campaign experiments before roll-out.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8096" y="5916168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8E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efficient data engineering succeeded; recommendation lift remains unproven.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GiftLane | Customers Like You</dc:title>
  <dc:subject>Customers Like You mini-project</dc:subject>
  <dc:creator>GiftLane Data &amp; ML Project</dc:creator>
  <cp:lastModifiedBy>GiftLane Data &amp; ML Project</cp:lastModifiedBy>
  <cp:revision>1</cp:revision>
  <dcterms:created xsi:type="dcterms:W3CDTF">2026-10-14T02:14:02Z</dcterms:created>
  <dcterms:modified xsi:type="dcterms:W3CDTF">2026-10-14T02:14:02Z</dcterms:modified>
</cp:coreProperties>
</file>